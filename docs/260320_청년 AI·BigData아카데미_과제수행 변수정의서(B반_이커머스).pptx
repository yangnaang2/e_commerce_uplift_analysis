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6" r:id="rId1"/>
  </p:sldMasterIdLst>
  <p:notesMasterIdLst>
    <p:notesMasterId r:id="rId5"/>
  </p:notesMasterIdLst>
  <p:handoutMasterIdLst>
    <p:handoutMasterId r:id="rId6"/>
  </p:handoutMasterIdLst>
  <p:sldIdLst>
    <p:sldId id="556" r:id="rId2"/>
    <p:sldId id="559" r:id="rId3"/>
    <p:sldId id="560" r:id="rId4"/>
  </p:sldIdLst>
  <p:sldSz cx="9904413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5750" userDrawn="1">
          <p15:clr>
            <a:srgbClr val="A4A3A4"/>
          </p15:clr>
        </p15:guide>
        <p15:guide id="4" pos="398" userDrawn="1">
          <p15:clr>
            <a:srgbClr val="A4A3A4"/>
          </p15:clr>
        </p15:guide>
        <p15:guide id="6" pos="5977" userDrawn="1">
          <p15:clr>
            <a:srgbClr val="A4A3A4"/>
          </p15:clr>
        </p15:guide>
        <p15:guide id="7" pos="217" userDrawn="1">
          <p15:clr>
            <a:srgbClr val="A4A3A4"/>
          </p15:clr>
        </p15:guide>
        <p15:guide id="8" orient="horz" pos="4020" userDrawn="1">
          <p15:clr>
            <a:srgbClr val="A4A3A4"/>
          </p15:clr>
        </p15:guide>
        <p15:guide id="10" pos="307" userDrawn="1">
          <p15:clr>
            <a:srgbClr val="A4A3A4"/>
          </p15:clr>
        </p15:guide>
        <p15:guide id="11" orient="horz" pos="754" userDrawn="1">
          <p15:clr>
            <a:srgbClr val="A4A3A4"/>
          </p15:clr>
        </p15:guide>
        <p15:guide id="12" orient="horz" pos="618" userDrawn="1">
          <p15:clr>
            <a:srgbClr val="A4A3A4"/>
          </p15:clr>
        </p15:guide>
        <p15:guide id="13" orient="horz" pos="4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FCF"/>
    <a:srgbClr val="0000CC"/>
    <a:srgbClr val="002060"/>
    <a:srgbClr val="FFFF99"/>
    <a:srgbClr val="FFFF00"/>
    <a:srgbClr val="FFFF66"/>
    <a:srgbClr val="7F7F7F"/>
    <a:srgbClr val="00B0F0"/>
    <a:srgbClr val="3D3DD8"/>
    <a:srgbClr val="4747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5" autoAdjust="0"/>
    <p:restoredTop sz="95400" autoAdjust="0"/>
  </p:normalViewPr>
  <p:slideViewPr>
    <p:cSldViewPr>
      <p:cViewPr varScale="1">
        <p:scale>
          <a:sx n="113" d="100"/>
          <a:sy n="113" d="100"/>
        </p:scale>
        <p:origin x="1728" y="96"/>
      </p:cViewPr>
      <p:guideLst>
        <p:guide pos="5750"/>
        <p:guide pos="398"/>
        <p:guide pos="5977"/>
        <p:guide pos="217"/>
        <p:guide orient="horz" pos="4020"/>
        <p:guide pos="307"/>
        <p:guide orient="horz" pos="754"/>
        <p:guide orient="horz" pos="618"/>
        <p:guide orient="horz" pos="4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F5487B-D2FA-4A53-8114-E3AEA53324C9}" type="datetimeFigureOut">
              <a:rPr lang="ko-KR" altLang="en-US" smtClean="0"/>
              <a:pPr/>
              <a:t>2026-03-20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083D5-EE40-458A-8370-FE182664F9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75054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9C59CF-47C6-4069-8E71-6884024ABEFA}" type="datetimeFigureOut">
              <a:rPr lang="ko-KR" altLang="en-US" smtClean="0"/>
              <a:pPr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E8434-9CE6-4B13-9D4B-73957E8B6C7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0187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안녕하십니까!</a:t>
            </a:r>
          </a:p>
          <a:p>
            <a:r>
              <a:t>프로젝트지원그룹에서 IP Pjt 제안서 코칭 및 심의업무를 지원하고 있는 ○ ○ ○ 입니다.</a:t>
            </a:r>
          </a:p>
          <a:p>
            <a:r>
              <a:t>오늘 제가 설명드릴 부분은 Smart型 IP Pjt 수행과 관련된 내용으로써 Smart의 의미, Smart型 IP Pjt의 정의와 과거 기술과의 차이점,</a:t>
            </a:r>
          </a:p>
          <a:p>
            <a:r>
              <a:t>Pjt 적용사례, Pjt 수행시 고려해야 할 사항, 그리고 마지막으로 Pjt 수행과 관련한 지원사항 위주로 설명드리겠습니다.</a:t>
            </a:r>
          </a:p>
        </p:txBody>
      </p:sp>
    </p:spTree>
    <p:extLst>
      <p:ext uri="{BB962C8B-B14F-4D97-AF65-F5344CB8AC3E}">
        <p14:creationId xmlns:p14="http://schemas.microsoft.com/office/powerpoint/2010/main" val="486696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831" y="2130429"/>
            <a:ext cx="8418751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662" y="3886200"/>
            <a:ext cx="693308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109" indent="0" algn="ctr">
              <a:buNone/>
              <a:defRPr/>
            </a:lvl2pPr>
            <a:lvl3pPr marL="914217" indent="0" algn="ctr">
              <a:buNone/>
              <a:defRPr/>
            </a:lvl3pPr>
            <a:lvl4pPr marL="1371326" indent="0" algn="ctr">
              <a:buNone/>
              <a:defRPr/>
            </a:lvl4pPr>
            <a:lvl5pPr marL="1828434" indent="0" algn="ctr">
              <a:buNone/>
              <a:defRPr/>
            </a:lvl5pPr>
            <a:lvl6pPr marL="2285543" indent="0" algn="ctr">
              <a:buNone/>
              <a:defRPr/>
            </a:lvl6pPr>
            <a:lvl7pPr marL="2742651" indent="0" algn="ctr">
              <a:buNone/>
              <a:defRPr/>
            </a:lvl7pPr>
            <a:lvl8pPr marL="3199760" indent="0" algn="ctr">
              <a:buNone/>
              <a:defRPr/>
            </a:lvl8pPr>
            <a:lvl9pPr marL="3656868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2831" y="6248400"/>
            <a:ext cx="2063419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008" y="6248400"/>
            <a:ext cx="3136397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8163" y="6248400"/>
            <a:ext cx="2063419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C68A53F-CAD8-0F49-B7E8-CBA6C9434E31}" type="slidenum">
              <a:rPr lang="en-US"/>
              <a:pPr/>
              <a:t>‹#›</a:t>
            </a:fld>
            <a:endParaRPr lang="en-US"/>
          </a:p>
        </p:txBody>
      </p:sp>
      <p:pic>
        <p:nvPicPr>
          <p:cNvPr id="7" name="Picture 1" descr="02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904413" cy="646043"/>
          </a:xfrm>
          <a:prstGeom prst="rect">
            <a:avLst/>
          </a:prstGeom>
        </p:spPr>
      </p:pic>
      <p:pic>
        <p:nvPicPr>
          <p:cNvPr id="8" name="Picture 2" descr="C:\WINNTF\View\IP페스티벌_메인_Ci_161118_PNG-01_12월30일08시24분_0900bf4b9b63f4de_562524.png">
            <a:extLst>
              <a:ext uri="{FF2B5EF4-FFF2-40B4-BE49-F238E27FC236}">
                <a16:creationId xmlns:a16="http://schemas.microsoft.com/office/drawing/2014/main" id="{C725DD7B-55DF-4342-A357-9E0AE348551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192049" y="49398"/>
            <a:ext cx="1681994" cy="3552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3136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106135" y="6356352"/>
            <a:ext cx="374459" cy="369332"/>
          </a:xfrm>
          <a:prstGeom prst="rect">
            <a:avLst/>
          </a:prstGeom>
        </p:spPr>
        <p:txBody>
          <a:bodyPr anchor="t"/>
          <a:lstStyle>
            <a:lvl1pPr algn="l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805493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02.jp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460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</p:sldLayoutIdLst>
  <p:hf sldNum="0"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45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5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7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20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82" indent="-228582" algn="l" defTabSz="914325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3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5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8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50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4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6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9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01" algn="l" defTabSz="91432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546" y="1"/>
            <a:ext cx="9913516" cy="685690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직사각형 32"/>
          <p:cNvSpPr txBox="1"/>
          <p:nvPr/>
        </p:nvSpPr>
        <p:spPr>
          <a:xfrm>
            <a:off x="51274" y="2660108"/>
            <a:ext cx="9812974" cy="6695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3600">
                <a:solidFill>
                  <a:srgbClr val="09507D"/>
                </a:solidFill>
                <a:latin typeface="HY견고딕"/>
                <a:ea typeface="HY견고딕"/>
                <a:cs typeface="HY견고딕"/>
                <a:sym typeface="HY견고딕"/>
              </a:defRPr>
            </a:lvl1pPr>
          </a:lstStyle>
          <a:p>
            <a:r>
              <a:rPr lang="en-US" dirty="0"/>
              <a:t>E-Commerce </a:t>
            </a:r>
            <a:r>
              <a:rPr lang="ko-KR" altLang="en-US" dirty="0"/>
              <a:t>매출 향상</a:t>
            </a:r>
            <a:r>
              <a:rPr lang="en-US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019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 txBox="1"/>
          <p:nvPr/>
        </p:nvSpPr>
        <p:spPr>
          <a:xfrm>
            <a:off x="171416" y="76863"/>
            <a:ext cx="743253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/>
            </a:lvl1pPr>
          </a:lstStyle>
          <a:p>
            <a:pPr latinLnBrk="0" hangingPunct="0"/>
            <a:r>
              <a:rPr sz="2800" kern="0" dirty="0" err="1">
                <a:solidFill>
                  <a:srgbClr val="004B96"/>
                </a:solidFill>
                <a:latin typeface="HY견고딕"/>
                <a:ea typeface="HY견고딕"/>
                <a:sym typeface="HY견고딕"/>
              </a:rPr>
              <a:t>변수정의서</a:t>
            </a:r>
            <a:endParaRPr sz="2800" kern="0" dirty="0">
              <a:solidFill>
                <a:srgbClr val="004B96"/>
              </a:solidFill>
              <a:latin typeface="HY견고딕"/>
              <a:ea typeface="HY견고딕"/>
              <a:sym typeface="HY견고딕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92E024-B3AD-F953-C6FA-C6D66346F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83202"/>
              </p:ext>
            </p:extLst>
          </p:nvPr>
        </p:nvGraphicFramePr>
        <p:xfrm>
          <a:off x="224697" y="1249310"/>
          <a:ext cx="9336021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2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변수명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주문자 고유 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aseline="0" dirty="0"/>
                        <a:t>주문 회원 상태 </a:t>
                      </a:r>
                      <a:r>
                        <a:rPr lang="en-US" altLang="ko-KR" sz="1200" baseline="0" dirty="0"/>
                        <a:t>(</a:t>
                      </a:r>
                      <a:r>
                        <a:rPr lang="ko-KR" altLang="en-US" sz="1200" baseline="0" dirty="0"/>
                        <a:t>탈퇴 </a:t>
                      </a:r>
                      <a:r>
                        <a:rPr lang="en-US" altLang="ko-KR" sz="1200" baseline="0" dirty="0"/>
                        <a:t>/</a:t>
                      </a:r>
                      <a:r>
                        <a:rPr lang="ko-KR" altLang="en-US" sz="1200" baseline="0" dirty="0"/>
                        <a:t>정상</a:t>
                      </a:r>
                      <a:r>
                        <a:rPr lang="en-US" altLang="ko-KR" sz="1200" baseline="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제품 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 </a:t>
                      </a:r>
                      <a:r>
                        <a:rPr lang="en-US" altLang="ko-KR" sz="1200" dirty="0"/>
                        <a:t>ID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구매수량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연속형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 구매 수량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구매금액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연속형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 구매 금액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주문일시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회원이 구매한 일시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배송시작일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배송이 시작된 일시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배송완료일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배송이 완료된 일시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사용적립금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연속형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상품 구매 시 회원이 사용한 어플리케이션 내 포인트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사용포인트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네이버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연속형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상품 구매 시 회원이 사용한 네이버 포인트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주문취소여부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주문 취소 여부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주문시간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회원이 제품을 주문한 시간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B0D2DD0-EEDE-0087-8B90-AB1634D3F67D}"/>
              </a:ext>
            </a:extLst>
          </p:cNvPr>
          <p:cNvSpPr txBox="1"/>
          <p:nvPr/>
        </p:nvSpPr>
        <p:spPr>
          <a:xfrm>
            <a:off x="127670" y="764704"/>
            <a:ext cx="8064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sym typeface="Wingdings" panose="05000000000000000000" pitchFamily="2" charset="2"/>
              </a:rPr>
              <a:t></a:t>
            </a: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</a:rPr>
              <a:t>판매 데이터 </a:t>
            </a:r>
            <a:r>
              <a:rPr lang="en-US" altLang="ko-KR" sz="1600" b="1" dirty="0">
                <a:solidFill>
                  <a:srgbClr val="0070C0"/>
                </a:solidFill>
              </a:rPr>
              <a:t>: Sales_Data05.csv</a:t>
            </a:r>
            <a:r>
              <a:rPr lang="ko-KR" altLang="en-US" sz="1600" b="1" dirty="0">
                <a:solidFill>
                  <a:srgbClr val="0070C0"/>
                </a:solidFill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</a:rPr>
              <a:t>(12</a:t>
            </a:r>
            <a:r>
              <a:rPr lang="ko-KR" altLang="en-US" sz="1600" b="1" dirty="0">
                <a:solidFill>
                  <a:srgbClr val="0070C0"/>
                </a:solidFill>
              </a:rPr>
              <a:t>개 변수</a:t>
            </a:r>
            <a:r>
              <a:rPr lang="en-US" altLang="ko-KR" sz="1600" b="1" dirty="0">
                <a:solidFill>
                  <a:srgbClr val="0070C0"/>
                </a:solidFill>
              </a:rPr>
              <a:t>, 668,111</a:t>
            </a:r>
            <a:r>
              <a:rPr lang="ko-KR" altLang="en-US" sz="1600" b="1" dirty="0">
                <a:solidFill>
                  <a:srgbClr val="0070C0"/>
                </a:solidFill>
              </a:rPr>
              <a:t>건</a:t>
            </a:r>
            <a:r>
              <a:rPr lang="en-US" altLang="ko-KR" sz="1600" b="1" dirty="0">
                <a:solidFill>
                  <a:srgbClr val="0070C0"/>
                </a:solidFill>
              </a:rPr>
              <a:t>)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29563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6C3CB486-5ED5-4B7F-9115-7767FF6ACC33}"/>
              </a:ext>
            </a:extLst>
          </p:cNvPr>
          <p:cNvSpPr txBox="1"/>
          <p:nvPr/>
        </p:nvSpPr>
        <p:spPr>
          <a:xfrm>
            <a:off x="171416" y="76863"/>
            <a:ext cx="7432535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400" b="1"/>
            </a:lvl1pPr>
          </a:lstStyle>
          <a:p>
            <a:pPr latinLnBrk="0" hangingPunct="0"/>
            <a:r>
              <a:rPr sz="2800" kern="0" dirty="0" err="1">
                <a:solidFill>
                  <a:srgbClr val="004B96"/>
                </a:solidFill>
                <a:latin typeface="HY견고딕"/>
                <a:ea typeface="HY견고딕"/>
                <a:sym typeface="HY견고딕"/>
              </a:rPr>
              <a:t>변수정의서</a:t>
            </a:r>
            <a:endParaRPr sz="2800" kern="0" dirty="0">
              <a:solidFill>
                <a:srgbClr val="004B96"/>
              </a:solidFill>
              <a:latin typeface="HY견고딕"/>
              <a:ea typeface="HY견고딕"/>
              <a:sym typeface="HY견고딕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DCC2363-28D3-932B-554A-ECC6B74EF094}"/>
              </a:ext>
            </a:extLst>
          </p:cNvPr>
          <p:cNvGraphicFramePr>
            <a:graphicFrameLocks noGrp="1"/>
          </p:cNvGraphicFramePr>
          <p:nvPr/>
        </p:nvGraphicFramePr>
        <p:xfrm>
          <a:off x="171416" y="1211544"/>
          <a:ext cx="9317294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4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변수명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/>
                        <a:t>주문자 고유 </a:t>
                      </a:r>
                      <a:r>
                        <a:rPr lang="en-US" altLang="ko-KR" sz="1100" dirty="0"/>
                        <a:t>ID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회원상태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aseline="0" dirty="0"/>
                        <a:t>주문 회원 상태 </a:t>
                      </a:r>
                      <a:r>
                        <a:rPr lang="en-US" altLang="ko-KR" sz="1100" baseline="0" dirty="0"/>
                        <a:t>(</a:t>
                      </a:r>
                      <a:r>
                        <a:rPr lang="ko-KR" altLang="en-US" sz="1100" baseline="0" dirty="0"/>
                        <a:t>탈퇴 </a:t>
                      </a:r>
                      <a:r>
                        <a:rPr lang="en-US" altLang="ko-KR" sz="1100" baseline="0" dirty="0"/>
                        <a:t>/</a:t>
                      </a:r>
                      <a:r>
                        <a:rPr lang="ko-KR" altLang="en-US" sz="1100" baseline="0" dirty="0"/>
                        <a:t>정상</a:t>
                      </a:r>
                      <a:r>
                        <a:rPr lang="en-US" altLang="ko-KR" sz="1100" baseline="0" dirty="0"/>
                        <a:t>)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 성별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연속형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 나이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 결제 등록 카드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어플리케이션 내 등록카드</a:t>
                      </a:r>
                      <a:r>
                        <a:rPr lang="en-US" altLang="ko-KR" sz="1200" dirty="0"/>
                        <a:t>)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 결혼 여부 </a:t>
                      </a:r>
                      <a:r>
                        <a:rPr lang="en-US" altLang="ko-KR" sz="1200" dirty="0"/>
                        <a:t>( </a:t>
                      </a:r>
                      <a:r>
                        <a:rPr lang="ko-KR" altLang="en-US" sz="1200" dirty="0"/>
                        <a:t>결측값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미확인 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구독여부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구독 </a:t>
                      </a:r>
                      <a:r>
                        <a:rPr lang="ko-KR" altLang="en-US" sz="1200" dirty="0" err="1"/>
                        <a:t>맴버십</a:t>
                      </a:r>
                      <a:r>
                        <a:rPr lang="ko-KR" altLang="en-US" sz="1200" dirty="0"/>
                        <a:t> 가입 여부 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신선제품 냉동포장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새벽배송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배송비 무료 </a:t>
                      </a:r>
                      <a:r>
                        <a:rPr lang="en-US" altLang="ko-KR" sz="1200" dirty="0"/>
                        <a:t>| </a:t>
                      </a:r>
                      <a:r>
                        <a:rPr lang="ko-KR" altLang="en-US" sz="1200" dirty="0"/>
                        <a:t>결측값 </a:t>
                      </a:r>
                      <a:r>
                        <a:rPr lang="en-US" altLang="ko-KR" sz="1200" dirty="0"/>
                        <a:t>– </a:t>
                      </a:r>
                      <a:r>
                        <a:rPr lang="ko-KR" altLang="en-US" sz="1200" dirty="0"/>
                        <a:t>미확인 </a:t>
                      </a:r>
                      <a:r>
                        <a:rPr lang="en-US" altLang="ko-KR" sz="1200" dirty="0"/>
                        <a:t>) 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주소지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 등록 주소지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045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세부주소지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범주형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회원 등록 세부 주소지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A113E7D-BD07-EBDD-4010-CFF98B404926}"/>
              </a:ext>
            </a:extLst>
          </p:cNvPr>
          <p:cNvSpPr txBox="1"/>
          <p:nvPr/>
        </p:nvSpPr>
        <p:spPr>
          <a:xfrm>
            <a:off x="127670" y="764704"/>
            <a:ext cx="55076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sym typeface="Wingdings" panose="05000000000000000000" pitchFamily="2" charset="2"/>
              </a:rPr>
              <a:t></a:t>
            </a: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</a:rPr>
              <a:t>고객 데이터 </a:t>
            </a:r>
            <a:r>
              <a:rPr lang="en-US" altLang="ko-KR" sz="1600" b="1" dirty="0">
                <a:solidFill>
                  <a:srgbClr val="0070C0"/>
                </a:solidFill>
              </a:rPr>
              <a:t>: Member_Data.csv</a:t>
            </a:r>
            <a:r>
              <a:rPr lang="ko-KR" altLang="en-US" sz="1600" b="1" dirty="0">
                <a:solidFill>
                  <a:srgbClr val="0070C0"/>
                </a:solidFill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</a:rPr>
              <a:t>(9</a:t>
            </a:r>
            <a:r>
              <a:rPr lang="ko-KR" altLang="en-US" sz="1600" b="1" dirty="0">
                <a:solidFill>
                  <a:srgbClr val="0070C0"/>
                </a:solidFill>
              </a:rPr>
              <a:t>개 변수</a:t>
            </a:r>
            <a:r>
              <a:rPr lang="en-US" altLang="ko-KR" sz="1600" b="1" dirty="0">
                <a:solidFill>
                  <a:srgbClr val="0070C0"/>
                </a:solidFill>
              </a:rPr>
              <a:t>, 12,540</a:t>
            </a:r>
            <a:r>
              <a:rPr lang="ko-KR" altLang="en-US" sz="1600" b="1" dirty="0">
                <a:solidFill>
                  <a:srgbClr val="0070C0"/>
                </a:solidFill>
              </a:rPr>
              <a:t>건</a:t>
            </a:r>
            <a:r>
              <a:rPr lang="en-US" altLang="ko-KR" sz="1600" b="1" dirty="0">
                <a:solidFill>
                  <a:srgbClr val="0070C0"/>
                </a:solidFill>
              </a:rPr>
              <a:t>)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3FB607-8FC7-2449-2C10-F554E983445B}"/>
              </a:ext>
            </a:extLst>
          </p:cNvPr>
          <p:cNvSpPr txBox="1"/>
          <p:nvPr/>
        </p:nvSpPr>
        <p:spPr>
          <a:xfrm>
            <a:off x="171534" y="4286077"/>
            <a:ext cx="6292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solidFill>
                  <a:srgbClr val="0070C0"/>
                </a:solidFill>
                <a:sym typeface="Wingdings" panose="05000000000000000000" pitchFamily="2" charset="2"/>
              </a:rPr>
              <a:t></a:t>
            </a:r>
            <a:r>
              <a:rPr lang="en-US" altLang="ko-KR" sz="1600" b="1" dirty="0">
                <a:solidFill>
                  <a:srgbClr val="0070C0"/>
                </a:solidFill>
              </a:rPr>
              <a:t> </a:t>
            </a:r>
            <a:r>
              <a:rPr lang="ko-KR" altLang="en-US" sz="1600" b="1" dirty="0">
                <a:solidFill>
                  <a:srgbClr val="0070C0"/>
                </a:solidFill>
              </a:rPr>
              <a:t>제품 데이터 </a:t>
            </a:r>
            <a:r>
              <a:rPr lang="en-US" altLang="ko-KR" sz="1600" b="1" dirty="0">
                <a:solidFill>
                  <a:srgbClr val="0070C0"/>
                </a:solidFill>
              </a:rPr>
              <a:t>: Product_Data.csv</a:t>
            </a:r>
            <a:r>
              <a:rPr lang="ko-KR" altLang="en-US" sz="1600" b="1" dirty="0">
                <a:solidFill>
                  <a:srgbClr val="0070C0"/>
                </a:solidFill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</a:rPr>
              <a:t>(5</a:t>
            </a:r>
            <a:r>
              <a:rPr lang="ko-KR" altLang="en-US" sz="1600" b="1" dirty="0">
                <a:solidFill>
                  <a:srgbClr val="0070C0"/>
                </a:solidFill>
              </a:rPr>
              <a:t>개 변수</a:t>
            </a:r>
            <a:r>
              <a:rPr lang="en-US" altLang="ko-KR" sz="1600" b="1" dirty="0">
                <a:solidFill>
                  <a:srgbClr val="0070C0"/>
                </a:solidFill>
              </a:rPr>
              <a:t>, 2,549</a:t>
            </a:r>
            <a:r>
              <a:rPr lang="ko-KR" altLang="en-US" sz="1600" b="1" dirty="0">
                <a:solidFill>
                  <a:srgbClr val="0070C0"/>
                </a:solidFill>
              </a:rPr>
              <a:t>건</a:t>
            </a:r>
            <a:r>
              <a:rPr lang="en-US" altLang="ko-KR" sz="1600" b="1" dirty="0">
                <a:solidFill>
                  <a:srgbClr val="0070C0"/>
                </a:solidFill>
              </a:rPr>
              <a:t>)</a:t>
            </a:r>
            <a:endParaRPr lang="ko-KR" altLang="en-US" sz="1600" b="1" dirty="0">
              <a:solidFill>
                <a:srgbClr val="0070C0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DF30765-E45C-F9D8-EE06-67F443644E93}"/>
              </a:ext>
            </a:extLst>
          </p:cNvPr>
          <p:cNvGraphicFramePr>
            <a:graphicFrameLocks noGrp="1"/>
          </p:cNvGraphicFramePr>
          <p:nvPr/>
        </p:nvGraphicFramePr>
        <p:xfrm>
          <a:off x="171534" y="4711827"/>
          <a:ext cx="931717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04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9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변수명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제품번호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 고유 </a:t>
                      </a:r>
                      <a:r>
                        <a:rPr lang="en-US" altLang="ko-KR" sz="1200" dirty="0"/>
                        <a:t>ID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물품대분류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325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제품의 물품 대분류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물품중분류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제품의 물품 중분류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물품명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제품 명 </a:t>
                      </a:r>
                      <a:r>
                        <a:rPr lang="en-US" altLang="ko-KR" sz="1200" dirty="0"/>
                        <a:t>(*</a:t>
                      </a:r>
                      <a:r>
                        <a:rPr lang="ko-KR" altLang="en-US" sz="1200" dirty="0"/>
                        <a:t>비식별처리 되어있어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실제 상품명과 다름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8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상품중량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범주형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상품의 중량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62543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31054</TotalTime>
  <Words>305</Words>
  <Application>Microsoft Office PowerPoint</Application>
  <PresentationFormat>사용자 지정</PresentationFormat>
  <Paragraphs>98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HY견고딕</vt:lpstr>
      <vt:lpstr>맑은 고딕</vt:lpstr>
      <vt:lpstr>Arial</vt:lpstr>
      <vt:lpstr>22_Office 테마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Microsoft Corporation</dc:creator>
  <cp:lastModifiedBy>wonseok han</cp:lastModifiedBy>
  <cp:revision>2224</cp:revision>
  <dcterms:created xsi:type="dcterms:W3CDTF">2006-10-05T04:04:58Z</dcterms:created>
  <dcterms:modified xsi:type="dcterms:W3CDTF">2026-03-20T00:20:40Z</dcterms:modified>
</cp:coreProperties>
</file>